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6"/>
  </p:normalViewPr>
  <p:slideViewPr>
    <p:cSldViewPr snapToGrid="0">
      <p:cViewPr varScale="1">
        <p:scale>
          <a:sx n="105" d="100"/>
          <a:sy n="105"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ct val="30000"/>
              </a:spcBef>
              <a:spcAft>
                <a:spcPct val="0"/>
              </a:spcAft>
              <a:buClrTx/>
              <a:buSzTx/>
              <a:buFontTx/>
              <a:buNone/>
            </a:pPr>
            <a:r>
              <a:t>Based heavily on the labs</a:t>
            </a:r>
          </a:p>
          <a:p>
            <a:pPr marL="0" marR="0" lvl="0" indent="0" algn="l" defTabSz="914400">
              <a:lnSpc>
                <a:spcPct val="100000"/>
              </a:lnSpc>
              <a:spcBef>
                <a:spcPct val="30000"/>
              </a:spcBef>
              <a:spcAft>
                <a:spcPct val="0"/>
              </a:spcAft>
              <a:buClrTx/>
              <a:buSzTx/>
              <a:buFontTx/>
              <a:buNone/>
            </a:pPr>
            <a:endParaRPr/>
          </a:p>
          <a:p>
            <a:pPr marL="0" marR="0" lvl="0" indent="0" algn="l" defTabSz="914400">
              <a:lnSpc>
                <a:spcPct val="100000"/>
              </a:lnSpc>
              <a:spcBef>
                <a:spcPct val="30000"/>
              </a:spcBef>
              <a:spcAft>
                <a:spcPct val="0"/>
              </a:spcAft>
              <a:buClrTx/>
              <a:buSzTx/>
              <a:buFontTx/>
              <a:buNone/>
            </a:pPr>
            <a:r>
              <a:t>W3: </a:t>
            </a:r>
            <a:r>
              <a:rPr b="0"/>
              <a:t>We will discuss if the RQ matches the data and the data collection</a:t>
            </a:r>
          </a:p>
          <a:p>
            <a:endParaRPr/>
          </a:p>
          <a:p>
            <a:pPr marL="0" marR="0" lvl="0" indent="0" algn="l" defTabSz="914400">
              <a:lnSpc>
                <a:spcPct val="100000"/>
              </a:lnSpc>
              <a:spcBef>
                <a:spcPct val="30000"/>
              </a:spcBef>
              <a:spcAft>
                <a:spcPct val="0"/>
              </a:spcAft>
              <a:buClrTx/>
              <a:buSzTx/>
              <a:buFontTx/>
              <a:buNone/>
            </a:pPr>
            <a:r>
              <a:rPr b="0"/>
              <a:t> (i.e. meet already next week!)</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ct val="30000"/>
              </a:spcBef>
              <a:spcAft>
                <a:spcPct val="0"/>
              </a:spcAft>
              <a:buClrTx/>
              <a:buSzTx/>
              <a:buFontTx/>
              <a:buNone/>
            </a:pPr>
            <a:r>
              <a:t>Based heavily on the labs</a:t>
            </a:r>
          </a:p>
          <a:p>
            <a:pPr marL="0" marR="0" lvl="0" indent="0" algn="l" defTabSz="914400">
              <a:lnSpc>
                <a:spcPct val="100000"/>
              </a:lnSpc>
              <a:spcBef>
                <a:spcPct val="30000"/>
              </a:spcBef>
              <a:spcAft>
                <a:spcPct val="0"/>
              </a:spcAft>
              <a:buClrTx/>
              <a:buSzTx/>
              <a:buFontTx/>
              <a:buNone/>
            </a:pPr>
            <a:endParaRPr/>
          </a:p>
          <a:p>
            <a:pPr marL="0" marR="0" lvl="0" indent="0" algn="l" defTabSz="914400">
              <a:lnSpc>
                <a:spcPct val="100000"/>
              </a:lnSpc>
              <a:spcBef>
                <a:spcPct val="30000"/>
              </a:spcBef>
              <a:spcAft>
                <a:spcPct val="0"/>
              </a:spcAft>
              <a:buClrTx/>
              <a:buSzTx/>
              <a:buFontTx/>
              <a:buNone/>
            </a:pPr>
            <a:r>
              <a:t>W3: </a:t>
            </a:r>
            <a:r>
              <a:rPr b="0"/>
              <a:t>We will discuss if the RQ matches the data and the data collection</a:t>
            </a:r>
          </a:p>
          <a:p>
            <a:endParaRPr/>
          </a:p>
          <a:p>
            <a:pPr marL="0" marR="0" lvl="0" indent="0" algn="l" defTabSz="914400">
              <a:lnSpc>
                <a:spcPct val="100000"/>
              </a:lnSpc>
              <a:spcBef>
                <a:spcPct val="30000"/>
              </a:spcBef>
              <a:spcAft>
                <a:spcPct val="0"/>
              </a:spcAft>
              <a:buClrTx/>
              <a:buSzTx/>
              <a:buFontTx/>
              <a:buNone/>
            </a:pPr>
            <a:r>
              <a:rPr b="0"/>
              <a:t> (i.e. meet already next week!)</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p:bg>
      <p:bgPr>
        <a:solidFill>
          <a:schemeClr val="bg2"/>
        </a:solidFill>
        <a:effectLst/>
      </p:bgPr>
    </p:bg>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2E0BC0C9-E1C8-43B4-B02D-558783360CD4}"/>
              </a:ext>
            </a:extLst>
          </p:cNvPr>
          <p:cNvSpPr>
            <a:spLocks noGrp="1"/>
          </p:cNvSpPr>
          <p:nvPr>
            <p:ph type="ctrTitle" idx="4294967295"/>
          </p:nvPr>
        </p:nvSpPr>
        <p:spPr>
          <a:xfrm>
            <a:off x="653016" y="2362052"/>
            <a:ext cx="6967728" cy="2624328"/>
          </a:xfrm>
        </p:spPr>
        <p:txBody>
          <a:bodyPr anchor="ctr">
            <a:normAutofit fontScale="90000"/>
          </a:bodyPr>
          <a:lstStyle>
            <a:lvl1pPr algn="ctr">
              <a:buNone/>
              <a:defRPr sz="4400" b="0">
                <a:solidFill>
                  <a:schemeClr val="accent3"/>
                </a:solidFill>
                <a:latin typeface="+mj-lt"/>
                <a:ea typeface="+mj-lt"/>
                <a:cs typeface="+mj-lt"/>
              </a:defRPr>
            </a:lvl1pPr>
          </a:lstStyle>
          <a:p>
            <a:pPr algn="l">
              <a:buNone/>
            </a:pPr>
            <a:r>
              <a:rPr sz="6600" b="1">
                <a:latin typeface="+mn-lt"/>
                <a:ea typeface="+mn-lt"/>
                <a:cs typeface="+mn-lt"/>
              </a:rPr>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e Photo Content">
    <p:bg>
      <p:bgPr>
        <a:solidFill>
          <a:schemeClr val="bg2"/>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8498B63D-F60C-4A9D-8D3E-0C7CD748FEDE}"/>
              </a:ext>
            </a:extLst>
          </p:cNvPr>
          <p:cNvSpPr>
            <a:spLocks noGrp="1"/>
          </p:cNvSpPr>
          <p:nvPr>
            <p:ph type="body" idx="11"/>
          </p:nvPr>
        </p:nvSpPr>
        <p:spPr>
          <a:xfrm>
            <a:off x="762000" y="1905000"/>
            <a:ext cx="5334000" cy="3670300"/>
          </a:xfrm>
        </p:spPr>
        <p:txBody>
          <a:bodyPr/>
          <a:lstStyle>
            <a:lvl1pPr marL="0" indent="0">
              <a:buNone/>
              <a:defRPr sz="1800" b="1">
                <a:solidFill>
                  <a:schemeClr val="tx2">
                    <a:lumMod val="75000"/>
                    <a:lumOff val="25000"/>
                  </a:schemeClr>
                </a:solidFill>
              </a:defRPr>
            </a:lvl1pPr>
            <a:lvl2pPr marL="283464" indent="-283464">
              <a:spcBef>
                <a:spcPts val="1000"/>
              </a:spcBef>
              <a:buNone/>
              <a:defRPr sz="1800">
                <a:solidFill>
                  <a:schemeClr val="tx2">
                    <a:lumMod val="75000"/>
                    <a:lumOff val="25000"/>
                  </a:schemeClr>
                </a:solidFill>
              </a:defRPr>
            </a:lvl2pPr>
          </a:lstStyle>
          <a:p>
            <a:pPr lvl="0">
              <a:buNone/>
            </a:pPr>
            <a:r>
              <a:t>Click to edit Master text styles</a:t>
            </a:r>
          </a:p>
          <a:p>
            <a:pPr lvl="1">
              <a:buNone/>
            </a:pPr>
            <a:r>
              <a:t>Second level</a:t>
            </a:r>
          </a:p>
        </p:txBody>
      </p:sp>
      <p:sp>
        <p:nvSpPr>
          <p:cNvPr id="14" name="Picture Placeholder 13">
            <a:extLst>
              <a:ext uri="{FF2B5EF4-FFF2-40B4-BE49-F238E27FC236}">
                <a16:creationId xmlns:a16="http://schemas.microsoft.com/office/drawing/2014/main" id="{9B1932CF-F265-4AEE-8704-F42C01AFB479}"/>
              </a:ext>
            </a:extLst>
          </p:cNvPr>
          <p:cNvSpPr>
            <a:spLocks noGrp="1"/>
          </p:cNvSpPr>
          <p:nvPr>
            <p:ph type="pic" idx="10"/>
          </p:nvPr>
        </p:nvSpPr>
        <p:spPr>
          <a:xfrm>
            <a:off x="6858000" y="715963"/>
            <a:ext cx="4572000" cy="4859337"/>
          </a:xfrm>
          <a:prstGeom prst="rect">
            <a:avLst/>
          </a:prstGeom>
          <a:solidFill>
            <a:schemeClr val="accent3">
              <a:lumMod val="20000"/>
              <a:lumOff val="80000"/>
            </a:schemeClr>
          </a:solidFill>
        </p:spPr>
        <p:txBody>
          <a:bodyPr/>
          <a:lstStyle>
            <a:lvl1pPr algn="ctr">
              <a:buNone/>
              <a:defRPr sz="1600"/>
            </a:lvl1pPr>
          </a:lstStyle>
          <a:p>
            <a:r>
              <a:t>Click icon to add picture</a:t>
            </a:r>
          </a:p>
        </p:txBody>
      </p:sp>
      <p:sp>
        <p:nvSpPr>
          <p:cNvPr id="2" name="Title 1">
            <a:extLst>
              <a:ext uri="{FF2B5EF4-FFF2-40B4-BE49-F238E27FC236}">
                <a16:creationId xmlns:a16="http://schemas.microsoft.com/office/drawing/2014/main" id="{6CD6C0B2-9A48-4C93-B61B-29BAD5AA5861}"/>
              </a:ext>
            </a:extLst>
          </p:cNvPr>
          <p:cNvSpPr>
            <a:spLocks noGrp="1"/>
          </p:cNvSpPr>
          <p:nvPr>
            <p:ph type="title"/>
          </p:nvPr>
        </p:nvSpPr>
        <p:spPr>
          <a:xfrm>
            <a:off x="762000" y="715961"/>
            <a:ext cx="5334000" cy="1189038"/>
          </a:xfrm>
        </p:spPr>
        <p:txBody>
          <a:bodyPr vert="horz" lIns="91440" tIns="45720" rIns="91440" bIns="45720" anchor="t">
            <a:normAutofit/>
          </a:bodyPr>
          <a:lstStyle>
            <a:lvl1pPr>
              <a:buNone/>
              <a:defRPr sz="4000" b="1">
                <a:solidFill>
                  <a:schemeClr val="accent3"/>
                </a:solidFill>
              </a:defRPr>
            </a:lvl1pPr>
          </a:lstStyle>
          <a:p>
            <a:pPr marL="0" lvl="0" indent="0">
              <a:spcBef>
                <a:spcPts val="1000"/>
              </a:spcBef>
              <a:buFont typeface="Arial"/>
              <a:buNone/>
            </a:pPr>
            <a:r>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fetti Content Blue">
    <p:bg>
      <p:bgPr>
        <a:solidFill>
          <a:schemeClr val="accent3"/>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D9303A2-B30A-054C-B809-053B909E125F}"/>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spAutoFit/>
          </a:bodyPr>
          <a:lstStyle>
            <a:lvl1pPr algn="ctr" defTabSz="932742">
              <a:lnSpc>
                <a:spcPct val="100000"/>
              </a:lnSpc>
              <a:spcBef>
                <a:spcPct val="0"/>
              </a:spcBef>
              <a:buNone/>
              <a:defRPr sz="4000" b="1" i="0" kern="1200" cap="none" spc="-50" baseline="0">
                <a:ln w="3175">
                  <a:noFill/>
                </a:ln>
                <a:solidFill>
                  <a:schemeClr val="accent4"/>
                </a:solidFill>
                <a:latin typeface="+mj-lt"/>
                <a:ea typeface="+mj-lt"/>
                <a:cs typeface="+mj-lt"/>
              </a:defRPr>
            </a:lvl1pPr>
          </a:lstStyle>
          <a:p>
            <a:r>
              <a:t>Section title with border</a:t>
            </a:r>
          </a:p>
        </p:txBody>
      </p:sp>
      <p:sp>
        <p:nvSpPr>
          <p:cNvPr id="6" name="Text Placeholder 4">
            <a:extLst>
              <a:ext uri="{FF2B5EF4-FFF2-40B4-BE49-F238E27FC236}">
                <a16:creationId xmlns:a16="http://schemas.microsoft.com/office/drawing/2014/main" id="{10F58DD1-3970-D84D-8040-EF33B0971D59}"/>
              </a:ext>
            </a:extLst>
          </p:cNvPr>
          <p:cNvSpPr>
            <a:spLocks noGrp="1"/>
          </p:cNvSpPr>
          <p:nvPr>
            <p:ph type="body" idx="12" hasCustomPrompt="1"/>
          </p:nvPr>
        </p:nvSpPr>
        <p:spPr>
          <a:xfrm>
            <a:off x="2196307" y="3260705"/>
            <a:ext cx="7799387" cy="1534757"/>
          </a:xfrm>
          <a:prstGeom prst="rect">
            <a:avLst/>
          </a:prstGeom>
          <a:noFill/>
        </p:spPr>
        <p:txBody>
          <a:bodyPr wrap="square" lIns="0" tIns="0" rIns="0" bIns="0">
            <a:noAutofit/>
          </a:bodyPr>
          <a:lstStyle>
            <a:lvl1pPr marL="0" indent="0" algn="ctr">
              <a:spcBef>
                <a:spcPts val="0"/>
              </a:spcBef>
              <a:spcAft>
                <a:spcPts val="0"/>
              </a:spcAft>
              <a:buFont typeface="Arial"/>
              <a:buNone/>
              <a:defRPr sz="1800" kern="1200">
                <a:solidFill>
                  <a:schemeClr val="bg1"/>
                </a:solidFill>
                <a:latin typeface="+mn-lt"/>
                <a:ea typeface="+mn-lt"/>
                <a:cs typeface="+mn-lt"/>
              </a:defRPr>
            </a:lvl1pPr>
          </a:lstStyle>
          <a:p>
            <a:pPr lvl="0">
              <a:buNone/>
            </a:pPr>
            <a:r>
              <a:t>Insert content here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ottom Pattern White">
    <p:bg>
      <p:bgPr>
        <a:solidFill>
          <a:schemeClr val="bg2"/>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BC00585D-E155-409A-899A-29BDF4E57FD3}"/>
              </a:ext>
            </a:extLst>
          </p:cNvPr>
          <p:cNvSpPr>
            <a:spLocks noGrp="1"/>
          </p:cNvSpPr>
          <p:nvPr>
            <p:ph type="title" hasCustomPrompt="1"/>
          </p:nvPr>
        </p:nvSpPr>
        <p:spPr>
          <a:xfrm>
            <a:off x="762000" y="716577"/>
            <a:ext cx="10668000" cy="615553"/>
          </a:xfrm>
          <a:prstGeom prst="rect">
            <a:avLst/>
          </a:prstGeom>
          <a:noFill/>
        </p:spPr>
        <p:txBody>
          <a:bodyPr wrap="square" lIns="0" tIns="0" rIns="0" bIns="0" anchor="b">
            <a:spAutoFit/>
          </a:bodyPr>
          <a:lstStyle>
            <a:lvl1pPr algn="l" defTabSz="932742">
              <a:lnSpc>
                <a:spcPct val="100000"/>
              </a:lnSpc>
              <a:spcBef>
                <a:spcPct val="0"/>
              </a:spcBef>
              <a:buNone/>
              <a:defRPr sz="4000" b="1" i="0" kern="1200" cap="none" spc="-50" baseline="0">
                <a:ln w="3175">
                  <a:noFill/>
                </a:ln>
                <a:solidFill>
                  <a:schemeClr val="accent2"/>
                </a:solidFill>
                <a:latin typeface="+mj-lt"/>
                <a:ea typeface="+mj-lt"/>
                <a:cs typeface="+mj-lt"/>
              </a:defRPr>
            </a:lvl1pPr>
          </a:lstStyle>
          <a:p>
            <a:r>
              <a:t>Insert text here</a:t>
            </a:r>
          </a:p>
        </p:txBody>
      </p:sp>
      <p:sp>
        <p:nvSpPr>
          <p:cNvPr id="5" name="Text Placeholder 4">
            <a:extLst>
              <a:ext uri="{FF2B5EF4-FFF2-40B4-BE49-F238E27FC236}">
                <a16:creationId xmlns:a16="http://schemas.microsoft.com/office/drawing/2014/main" id="{2D944D9B-AA15-4DB5-AE58-0FA514F6FE87}"/>
              </a:ext>
            </a:extLst>
          </p:cNvPr>
          <p:cNvSpPr>
            <a:spLocks noGrp="1"/>
          </p:cNvSpPr>
          <p:nvPr>
            <p:ph type="body" idx="13" hasCustomPrompt="1"/>
          </p:nvPr>
        </p:nvSpPr>
        <p:spPr>
          <a:xfrm>
            <a:off x="762000" y="1790699"/>
            <a:ext cx="10668000" cy="685800"/>
          </a:xfrm>
          <a:prstGeom prst="rect">
            <a:avLst/>
          </a:prstGeom>
          <a:noFill/>
        </p:spPr>
        <p:txBody>
          <a:bodyPr wrap="square" lIns="0" tIns="0" rIns="0" bIns="0">
            <a:noAutofit/>
          </a:bodyPr>
          <a:lstStyle>
            <a:lvl1pPr marL="0" indent="0" algn="l">
              <a:spcBef>
                <a:spcPts val="0"/>
              </a:spcBef>
              <a:spcAft>
                <a:spcPts val="0"/>
              </a:spcAft>
              <a:buFont typeface="Arial"/>
              <a:buNone/>
              <a:defRPr sz="1800" kern="1200">
                <a:solidFill>
                  <a:schemeClr val="tx2">
                    <a:lumMod val="75000"/>
                    <a:lumOff val="25000"/>
                  </a:schemeClr>
                </a:solidFill>
                <a:latin typeface="+mn-lt"/>
                <a:ea typeface="+mn-lt"/>
                <a:cs typeface="+mn-lt"/>
              </a:defRPr>
            </a:lvl1pPr>
          </a:lstStyle>
          <a:p>
            <a:pPr lvl="0">
              <a:buNone/>
            </a:pPr>
            <a:r>
              <a:t>Insert content here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mart Art">
    <p:bg>
      <p:bgPr>
        <a:solidFill>
          <a:schemeClr val="accent3"/>
        </a:solidFill>
        <a:effectLst/>
      </p:bgPr>
    </p:bg>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3E65ED86-A26C-479A-8393-0BFDCBCD43F2}"/>
              </a:ext>
            </a:extLst>
          </p:cNvPr>
          <p:cNvSpPr>
            <a:spLocks noGrp="1"/>
          </p:cNvSpPr>
          <p:nvPr>
            <p:ph type="body" idx="13" hasCustomPrompt="1"/>
          </p:nvPr>
        </p:nvSpPr>
        <p:spPr>
          <a:xfrm>
            <a:off x="762000" y="1783952"/>
            <a:ext cx="10668000" cy="1111648"/>
          </a:xfrm>
          <a:prstGeom prst="rect">
            <a:avLst/>
          </a:prstGeom>
          <a:noFill/>
        </p:spPr>
        <p:txBody>
          <a:bodyPr wrap="square" lIns="0" tIns="0" rIns="0" bIns="0">
            <a:noAutofit/>
          </a:bodyPr>
          <a:lstStyle>
            <a:lvl1pPr marL="0" indent="0" algn="l">
              <a:spcBef>
                <a:spcPts val="0"/>
              </a:spcBef>
              <a:spcAft>
                <a:spcPts val="0"/>
              </a:spcAft>
              <a:buFont typeface="Arial"/>
              <a:buNone/>
              <a:defRPr sz="1800" kern="1200">
                <a:solidFill>
                  <a:schemeClr val="bg1"/>
                </a:solidFill>
                <a:latin typeface="+mn-lt"/>
                <a:ea typeface="+mn-lt"/>
                <a:cs typeface="+mn-lt"/>
              </a:defRPr>
            </a:lvl1pPr>
          </a:lstStyle>
          <a:p>
            <a:pPr lvl="0">
              <a:buNone/>
            </a:pPr>
            <a:r>
              <a:t>Insert content here</a:t>
            </a:r>
          </a:p>
        </p:txBody>
      </p:sp>
      <p:sp>
        <p:nvSpPr>
          <p:cNvPr id="2" name="Title 1">
            <a:extLst>
              <a:ext uri="{FF2B5EF4-FFF2-40B4-BE49-F238E27FC236}">
                <a16:creationId xmlns:a16="http://schemas.microsoft.com/office/drawing/2014/main" id="{171A834B-FAC3-4C97-AEAE-75A4B8BAA81B}"/>
              </a:ext>
            </a:extLst>
          </p:cNvPr>
          <p:cNvSpPr>
            <a:spLocks noGrp="1"/>
          </p:cNvSpPr>
          <p:nvPr>
            <p:ph type="title"/>
          </p:nvPr>
        </p:nvSpPr>
        <p:spPr>
          <a:xfrm>
            <a:off x="762000" y="715964"/>
            <a:ext cx="9144000" cy="646332"/>
          </a:xfrm>
        </p:spPr>
        <p:txBody>
          <a:bodyPr vert="horz" lIns="91440" tIns="45720" rIns="91440" bIns="45720">
            <a:normAutofit/>
          </a:bodyPr>
          <a:lstStyle>
            <a:lvl1pPr>
              <a:buNone/>
              <a:defRPr sz="4000" b="1">
                <a:solidFill>
                  <a:schemeClr val="accent4"/>
                </a:solidFill>
              </a:defRPr>
            </a:lvl1pPr>
          </a:lstStyle>
          <a:p>
            <a:pPr marL="0" lvl="0" indent="0">
              <a:spcBef>
                <a:spcPts val="1000"/>
              </a:spcBef>
              <a:buFont typeface="Arial"/>
              <a:buNone/>
            </a:pPr>
            <a:r>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fetti Content Purple">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D9303A2-B30A-054C-B809-053B909E125F}"/>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spAutoFit/>
          </a:bodyPr>
          <a:lstStyle>
            <a:lvl1pPr algn="ctr" defTabSz="932742">
              <a:lnSpc>
                <a:spcPct val="100000"/>
              </a:lnSpc>
              <a:spcBef>
                <a:spcPct val="0"/>
              </a:spcBef>
              <a:buNone/>
              <a:defRPr sz="4000" b="1" i="0" kern="1200" cap="none" spc="-50" baseline="0">
                <a:ln w="3175">
                  <a:noFill/>
                </a:ln>
                <a:solidFill>
                  <a:schemeClr val="accent2"/>
                </a:solidFill>
                <a:latin typeface="+mj-lt"/>
                <a:ea typeface="+mj-lt"/>
                <a:cs typeface="+mj-lt"/>
              </a:defRPr>
            </a:lvl1pPr>
          </a:lstStyle>
          <a:p>
            <a:r>
              <a:t>Section title with border</a:t>
            </a:r>
          </a:p>
        </p:txBody>
      </p:sp>
      <p:sp>
        <p:nvSpPr>
          <p:cNvPr id="6" name="Text Placeholder 4">
            <a:extLst>
              <a:ext uri="{FF2B5EF4-FFF2-40B4-BE49-F238E27FC236}">
                <a16:creationId xmlns:a16="http://schemas.microsoft.com/office/drawing/2014/main" id="{10F58DD1-3970-D84D-8040-EF33B0971D59}"/>
              </a:ext>
            </a:extLst>
          </p:cNvPr>
          <p:cNvSpPr>
            <a:spLocks noGrp="1"/>
          </p:cNvSpPr>
          <p:nvPr>
            <p:ph type="body" idx="12" hasCustomPrompt="1"/>
          </p:nvPr>
        </p:nvSpPr>
        <p:spPr>
          <a:xfrm>
            <a:off x="2196307" y="3260705"/>
            <a:ext cx="7799387" cy="1534757"/>
          </a:xfrm>
          <a:prstGeom prst="rect">
            <a:avLst/>
          </a:prstGeom>
          <a:noFill/>
        </p:spPr>
        <p:txBody>
          <a:bodyPr wrap="square" lIns="0" tIns="0" rIns="0" bIns="0">
            <a:noAutofit/>
          </a:bodyPr>
          <a:lstStyle>
            <a:lvl1pPr marL="0" indent="0" algn="ctr">
              <a:spcBef>
                <a:spcPts val="0"/>
              </a:spcBef>
              <a:spcAft>
                <a:spcPts val="0"/>
              </a:spcAft>
              <a:buFont typeface="Arial"/>
              <a:buNone/>
              <a:defRPr sz="1800" kern="1200">
                <a:solidFill>
                  <a:schemeClr val="tx1"/>
                </a:solidFill>
                <a:latin typeface="+mn-lt"/>
                <a:ea typeface="+mn-lt"/>
                <a:cs typeface="+mn-lt"/>
              </a:defRPr>
            </a:lvl1pPr>
          </a:lstStyle>
          <a:p>
            <a:pPr lvl="0">
              <a:buNone/>
            </a:pPr>
            <a:r>
              <a:t>Insert content here</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FBCF99-78A7-4DB9-9E55-82FBE3A3F19A}"/>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0873A8CA-B0F5-4A92-AC8C-2D067EFF96B6}"/>
              </a:ext>
            </a:extLst>
          </p:cNvPr>
          <p:cNvSpPr>
            <a:spLocks noGrp="1"/>
          </p:cNvSpPr>
          <p:nvPr>
            <p:ph type="body" idx="1"/>
          </p:nvPr>
        </p:nvSpPr>
        <p:spPr>
          <a:xfrm>
            <a:off x="838200" y="1825625"/>
            <a:ext cx="10515600" cy="4667250"/>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ocs.google.com/document/d/1VdUVTzQaxsFTXqVFKyJlNi9FZ_WlRKkHP-da_1MlPxI"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B1C5EA4-9F16-8E9D-39EA-FD3EC5434C4C}"/>
              </a:ext>
            </a:extLst>
          </p:cNvPr>
          <p:cNvSpPr>
            <a:spLocks noGrp="1"/>
          </p:cNvSpPr>
          <p:nvPr>
            <p:ph type="body" idx="11"/>
          </p:nvPr>
        </p:nvSpPr>
        <p:spPr>
          <a:xfrm>
            <a:off x="535858" y="1332520"/>
            <a:ext cx="11495316" cy="4319133"/>
          </a:xfrm>
        </p:spPr>
        <p:txBody>
          <a:bodyPr>
            <a:normAutofit/>
          </a:bodyPr>
          <a:lstStyle/>
          <a:p>
            <a:r>
              <a:rPr dirty="0"/>
              <a:t>Goal:</a:t>
            </a:r>
          </a:p>
          <a:p>
            <a:pPr marL="285750" indent="-285750">
              <a:buFont typeface="Arial"/>
              <a:buChar char="•"/>
            </a:pPr>
            <a:r>
              <a:rPr b="0" dirty="0"/>
              <a:t>Consolidate the concepts learned during the lecture</a:t>
            </a:r>
          </a:p>
          <a:p>
            <a:pPr marL="285750" indent="-285750">
              <a:buFont typeface="Arial"/>
              <a:buChar char="•"/>
            </a:pPr>
            <a:r>
              <a:rPr b="0" dirty="0"/>
              <a:t>Hands-on experience with collecting and evaluating DTD</a:t>
            </a:r>
          </a:p>
          <a:p>
            <a:pPr marL="285750" indent="-285750">
              <a:buFont typeface="Arial"/>
              <a:buChar char="•"/>
            </a:pPr>
            <a:r>
              <a:rPr b="0" dirty="0"/>
              <a:t>Prepare for the group assignments</a:t>
            </a:r>
          </a:p>
          <a:p>
            <a:endParaRPr b="0" dirty="0"/>
          </a:p>
          <a:p>
            <a:r>
              <a:rPr b="0" dirty="0"/>
              <a:t>You can only miss one lab to have the right to the </a:t>
            </a:r>
            <a:r>
              <a:rPr b="0" dirty="0" err="1"/>
              <a:t>resit</a:t>
            </a:r>
            <a:r>
              <a:rPr b="0" dirty="0"/>
              <a:t>.</a:t>
            </a:r>
            <a:r>
              <a:rPr lang="en-US" b="0" dirty="0"/>
              <a:t> You cannot miss the peer feedback sessions.</a:t>
            </a:r>
            <a:endParaRPr b="0" dirty="0"/>
          </a:p>
          <a:p>
            <a:endParaRPr b="0" dirty="0"/>
          </a:p>
          <a:p>
            <a:endParaRPr b="0" dirty="0"/>
          </a:p>
          <a:p>
            <a:r>
              <a:rPr b="0" dirty="0"/>
              <a:t>The solutions are online</a:t>
            </a:r>
          </a:p>
          <a:p>
            <a:r>
              <a:rPr b="0" dirty="0"/>
              <a:t>Work in groups is encouraged!</a:t>
            </a:r>
            <a:r>
              <a:rPr dirty="0"/>
              <a:t> </a:t>
            </a:r>
            <a:endParaRPr b="0" dirty="0"/>
          </a:p>
          <a:p>
            <a:endParaRPr dirty="0"/>
          </a:p>
          <a:p>
            <a:endParaRPr dirty="0"/>
          </a:p>
        </p:txBody>
      </p:sp>
      <p:sp>
        <p:nvSpPr>
          <p:cNvPr id="4" name="Title 3">
            <a:extLst>
              <a:ext uri="{FF2B5EF4-FFF2-40B4-BE49-F238E27FC236}">
                <a16:creationId xmlns:a16="http://schemas.microsoft.com/office/drawing/2014/main" id="{1DA1E466-424B-F32A-8DAD-C46B62ADE7BE}"/>
              </a:ext>
            </a:extLst>
          </p:cNvPr>
          <p:cNvSpPr>
            <a:spLocks noGrp="1"/>
          </p:cNvSpPr>
          <p:nvPr>
            <p:ph type="title"/>
          </p:nvPr>
        </p:nvSpPr>
        <p:spPr>
          <a:xfrm>
            <a:off x="411871" y="379842"/>
            <a:ext cx="5334000" cy="1189038"/>
          </a:xfrm>
        </p:spPr>
        <p:txBody>
          <a:bodyPr/>
          <a:lstStyle/>
          <a:p>
            <a:r>
              <a:t>Computer labs</a:t>
            </a:r>
          </a:p>
        </p:txBody>
      </p:sp>
    </p:spTree>
    <p:extLst>
      <p:ext uri="{BB962C8B-B14F-4D97-AF65-F5344CB8AC3E}">
        <p14:creationId xmlns:p14="http://schemas.microsoft.com/office/powerpoint/2010/main" val="1249039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1B352CA-A192-E4E9-C0E2-439B2147CA2E}"/>
              </a:ext>
            </a:extLst>
          </p:cNvPr>
          <p:cNvSpPr>
            <a:spLocks noGrp="1"/>
          </p:cNvSpPr>
          <p:nvPr>
            <p:ph type="body" idx="11"/>
          </p:nvPr>
        </p:nvSpPr>
        <p:spPr>
          <a:xfrm>
            <a:off x="761998" y="509667"/>
            <a:ext cx="11005281" cy="6335632"/>
          </a:xfrm>
        </p:spPr>
        <p:txBody>
          <a:bodyPr>
            <a:normAutofit fontScale="92500" lnSpcReduction="10000"/>
          </a:bodyPr>
          <a:lstStyle/>
          <a:p>
            <a:r>
              <a:rPr sz="2000" dirty="0"/>
              <a:t>Goal:  </a:t>
            </a:r>
            <a:r>
              <a:rPr sz="2000" b="0" dirty="0"/>
              <a:t>Practice the entire workflow of answering a research question using DTD, including assessing errors in the data and the potential harms for society. </a:t>
            </a:r>
          </a:p>
          <a:p>
            <a:r>
              <a:rPr sz="2000" dirty="0"/>
              <a:t>Two deliverables: </a:t>
            </a:r>
            <a:r>
              <a:rPr sz="2000" b="0" dirty="0"/>
              <a:t>a written report (week 5) and a presentation (week 8)</a:t>
            </a:r>
          </a:p>
          <a:p>
            <a:endParaRPr lang="en-US" sz="2000" dirty="0"/>
          </a:p>
          <a:p>
            <a:r>
              <a:rPr sz="2000" dirty="0"/>
              <a:t>Example research questions:</a:t>
            </a:r>
          </a:p>
          <a:p>
            <a:pPr marL="285750" indent="-285750">
              <a:buFont typeface="Arial"/>
              <a:buChar char="•"/>
            </a:pPr>
            <a:r>
              <a:rPr sz="2000" b="0" dirty="0"/>
              <a:t>How politically polarized is Dutch society?</a:t>
            </a:r>
          </a:p>
          <a:p>
            <a:pPr marL="285750" indent="-285750">
              <a:buFont typeface="Arial"/>
              <a:buChar char="•"/>
            </a:pPr>
            <a:r>
              <a:rPr sz="2000" b="0" dirty="0"/>
              <a:t>Is hate speech more likely to be shared on social media feeds of specific subpopulations?</a:t>
            </a:r>
          </a:p>
          <a:p>
            <a:pPr marL="285750" indent="-285750">
              <a:buFont typeface="Arial"/>
              <a:buChar char="•"/>
            </a:pPr>
            <a:r>
              <a:rPr sz="2000" b="0" dirty="0"/>
              <a:t>Have </a:t>
            </a:r>
            <a:r>
              <a:rPr lang="en-US" sz="2000" b="0" dirty="0"/>
              <a:t>individuals </a:t>
            </a:r>
            <a:r>
              <a:rPr sz="2000" b="0" dirty="0"/>
              <a:t>become more </a:t>
            </a:r>
            <a:r>
              <a:rPr lang="en-US" sz="2000" b="0" dirty="0"/>
              <a:t>emotional</a:t>
            </a:r>
            <a:r>
              <a:rPr sz="2000" b="0" dirty="0"/>
              <a:t> after 7th October 2023?</a:t>
            </a:r>
          </a:p>
          <a:p>
            <a:endParaRPr lang="en-US" sz="2000" dirty="0"/>
          </a:p>
          <a:p>
            <a:r>
              <a:rPr sz="2000" dirty="0"/>
              <a:t>Take into consideration:</a:t>
            </a:r>
          </a:p>
          <a:p>
            <a:pPr marL="285750" indent="-285750">
              <a:buFont typeface="Arial"/>
              <a:buChar char="•"/>
            </a:pPr>
            <a:r>
              <a:rPr sz="2000" b="0" dirty="0"/>
              <a:t>In the second assignment, you will use a text classification model to label the data. These models can detect the presence of hate speech, political leanings, personality traits, or different emotions. Make sure that your RQ is about one of these topics and that your data contains text.</a:t>
            </a:r>
          </a:p>
          <a:p>
            <a:r>
              <a:rPr sz="2000" dirty="0"/>
              <a:t>Potential datasets</a:t>
            </a:r>
            <a:r>
              <a:rPr sz="2000" b="0" dirty="0"/>
              <a:t> (where you are likely to be able to extract data): </a:t>
            </a:r>
          </a:p>
          <a:p>
            <a:pPr marL="285750" indent="-285750">
              <a:buFont typeface="Arial"/>
              <a:buChar char="•"/>
            </a:pPr>
            <a:r>
              <a:rPr sz="2000" b="0" dirty="0"/>
              <a:t>User-centric approaches: TikTok, X, Instagram, LinkedIn, 9GAG, </a:t>
            </a:r>
            <a:r>
              <a:rPr sz="2000" b="0" dirty="0" err="1"/>
              <a:t>Imgur</a:t>
            </a:r>
            <a:r>
              <a:rPr sz="2000" b="0" dirty="0"/>
              <a:t>, Gab, Truth Social, Douyin </a:t>
            </a:r>
          </a:p>
          <a:p>
            <a:pPr marL="285750" indent="-285750">
              <a:buFont typeface="Arial"/>
              <a:buChar char="•"/>
            </a:pPr>
            <a:r>
              <a:rPr sz="2000" b="0" dirty="0"/>
              <a:t>Platform-centric approaches: The Guardian (comments), Facebook Social Connectedness Index, Reddit comments</a:t>
            </a:r>
          </a:p>
          <a:p>
            <a:r>
              <a:rPr sz="2000" dirty="0"/>
              <a:t>Don’t try anything too complicated! </a:t>
            </a:r>
            <a:r>
              <a:rPr sz="2000" b="0" dirty="0"/>
              <a:t>The focus is </a:t>
            </a:r>
            <a:r>
              <a:rPr sz="2000" dirty="0"/>
              <a:t>not</a:t>
            </a:r>
            <a:r>
              <a:rPr sz="2000" b="0" dirty="0"/>
              <a:t> on answering a complex RQ, but on assessing the errors in the data and the potential consequences for the analysis.</a:t>
            </a:r>
            <a:endParaRPr sz="2000" dirty="0"/>
          </a:p>
        </p:txBody>
      </p:sp>
      <p:sp>
        <p:nvSpPr>
          <p:cNvPr id="4" name="Title 3">
            <a:extLst>
              <a:ext uri="{FF2B5EF4-FFF2-40B4-BE49-F238E27FC236}">
                <a16:creationId xmlns:a16="http://schemas.microsoft.com/office/drawing/2014/main" id="{01702217-F28F-F3E4-46B4-FBD0124F48DA}"/>
              </a:ext>
            </a:extLst>
          </p:cNvPr>
          <p:cNvSpPr>
            <a:spLocks noGrp="1"/>
          </p:cNvSpPr>
          <p:nvPr>
            <p:ph type="title"/>
          </p:nvPr>
        </p:nvSpPr>
        <p:spPr>
          <a:xfrm>
            <a:off x="761998" y="12701"/>
            <a:ext cx="7353300" cy="751796"/>
          </a:xfrm>
        </p:spPr>
        <p:txBody>
          <a:bodyPr>
            <a:normAutofit/>
          </a:bodyPr>
          <a:lstStyle/>
          <a:p>
            <a:r>
              <a:rPr sz="3200"/>
              <a:t>Group project</a:t>
            </a:r>
          </a:p>
        </p:txBody>
      </p:sp>
    </p:spTree>
    <p:extLst>
      <p:ext uri="{BB962C8B-B14F-4D97-AF65-F5344CB8AC3E}">
        <p14:creationId xmlns:p14="http://schemas.microsoft.com/office/powerpoint/2010/main" val="81022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BADA567-6559-9DFD-3C42-51B4A4B1DB87}"/>
              </a:ext>
            </a:extLst>
          </p:cNvPr>
          <p:cNvSpPr>
            <a:spLocks noGrp="1"/>
          </p:cNvSpPr>
          <p:nvPr>
            <p:ph type="body" idx="11"/>
          </p:nvPr>
        </p:nvSpPr>
        <p:spPr>
          <a:xfrm>
            <a:off x="761999" y="909298"/>
            <a:ext cx="10083801" cy="5948702"/>
          </a:xfrm>
        </p:spPr>
        <p:txBody>
          <a:bodyPr>
            <a:normAutofit/>
          </a:bodyPr>
          <a:lstStyle/>
          <a:p>
            <a:r>
              <a:rPr b="1" dirty="0"/>
              <a:t>Timeframe (see group guidelines):</a:t>
            </a:r>
          </a:p>
          <a:p>
            <a:r>
              <a:rPr b="0" dirty="0"/>
              <a:t>Before the feedback moment in week 3:</a:t>
            </a:r>
          </a:p>
          <a:p>
            <a:pPr marL="285750" indent="-285750">
              <a:buFont typeface="Arial"/>
              <a:buChar char="•"/>
            </a:pPr>
            <a:r>
              <a:rPr b="0" dirty="0"/>
              <a:t>Decide on a research question that you would like to investigate using DTD. Feel free to come up with a couple options.</a:t>
            </a:r>
          </a:p>
          <a:p>
            <a:pPr marL="285750" indent="-285750">
              <a:buFont typeface="Arial"/>
              <a:buChar char="•"/>
            </a:pPr>
            <a:r>
              <a:rPr b="0" dirty="0"/>
              <a:t>Take a quick look at the ethical review form.</a:t>
            </a:r>
          </a:p>
          <a:p>
            <a:pPr marL="285750" indent="-285750">
              <a:buFont typeface="Arial"/>
              <a:buChar char="•"/>
            </a:pPr>
            <a:r>
              <a:rPr b="0" dirty="0"/>
              <a:t>Start collecting data (you will learn how to next week)</a:t>
            </a:r>
          </a:p>
          <a:p>
            <a:r>
              <a:rPr b="0" dirty="0"/>
              <a:t>Week 3: Feedback moment (15 min/group). Come prepared!</a:t>
            </a:r>
          </a:p>
          <a:p>
            <a:pPr marL="285750" indent="-285750">
              <a:buFont typeface="Arial"/>
              <a:buChar char="•"/>
            </a:pPr>
            <a:r>
              <a:rPr dirty="0"/>
              <a:t>Prepare a few (&lt;5) slides with your progress </a:t>
            </a:r>
            <a:r>
              <a:rPr b="0" dirty="0"/>
              <a:t>(RQ, dataset, proposed next steps) </a:t>
            </a:r>
            <a:r>
              <a:rPr dirty="0"/>
              <a:t>which indicates on what topics each group member worked</a:t>
            </a:r>
            <a:r>
              <a:rPr b="0" dirty="0"/>
              <a:t> (each slide should contain the contributors). </a:t>
            </a:r>
            <a:endParaRPr lang="en-US" b="0" dirty="0"/>
          </a:p>
          <a:p>
            <a:r>
              <a:rPr b="0" dirty="0"/>
              <a:t>Before feedback moment in week 4:</a:t>
            </a:r>
          </a:p>
          <a:p>
            <a:pPr marL="285750" indent="-285750">
              <a:buFont typeface="Arial"/>
              <a:buChar char="•"/>
            </a:pPr>
            <a:r>
              <a:rPr b="0" dirty="0"/>
              <a:t>Finish collecting data</a:t>
            </a:r>
          </a:p>
          <a:p>
            <a:pPr marL="285750" indent="-285750">
              <a:buFont typeface="Arial"/>
              <a:buChar char="•"/>
            </a:pPr>
            <a:r>
              <a:rPr b="0" dirty="0"/>
              <a:t>Discuss the errors you anticipate in the data (you will need to read </a:t>
            </a:r>
            <a:r>
              <a:rPr sz="1700" b="0" dirty="0" err="1"/>
              <a:t>BbB</a:t>
            </a:r>
            <a:r>
              <a:rPr sz="1700" b="0" dirty="0"/>
              <a:t> chapter 3.1-3.4 for that)</a:t>
            </a:r>
            <a:endParaRPr b="0" dirty="0"/>
          </a:p>
          <a:p>
            <a:r>
              <a:rPr b="0" dirty="0"/>
              <a:t>Week 4: Feedback moment (15 min/group). Come prepared! (bring slides)</a:t>
            </a:r>
          </a:p>
          <a:p>
            <a:r>
              <a:rPr b="0" dirty="0"/>
              <a:t>Week 5: Submission of first report (&lt; 1000 words)</a:t>
            </a:r>
          </a:p>
        </p:txBody>
      </p:sp>
      <p:sp>
        <p:nvSpPr>
          <p:cNvPr id="10" name="Title 3">
            <a:extLst>
              <a:ext uri="{FF2B5EF4-FFF2-40B4-BE49-F238E27FC236}">
                <a16:creationId xmlns:a16="http://schemas.microsoft.com/office/drawing/2014/main" id="{384CDB50-C99B-E0C2-9704-944A1C3ED8AF}"/>
              </a:ext>
            </a:extLst>
          </p:cNvPr>
          <p:cNvSpPr>
            <a:spLocks noGrp="1"/>
          </p:cNvSpPr>
          <p:nvPr/>
        </p:nvSpPr>
        <p:spPr>
          <a:xfrm>
            <a:off x="761998" y="217462"/>
            <a:ext cx="7353300" cy="751796"/>
          </a:xfrm>
          <a:prstGeom prst="rect">
            <a:avLst/>
          </a:prstGeom>
        </p:spPr>
        <p:txBody>
          <a:bodyPr vert="horz" lIns="91440" tIns="45720" rIns="91440" bIns="45720" anchor="t">
            <a:normAutofit/>
          </a:bodyPr>
          <a:lstStyle>
            <a:lvl1pPr algn="l" defTabSz="914400">
              <a:lnSpc>
                <a:spcPct val="90000"/>
              </a:lnSpc>
              <a:spcBef>
                <a:spcPct val="0"/>
              </a:spcBef>
              <a:buNone/>
              <a:defRPr sz="4000" b="1" kern="1200">
                <a:solidFill>
                  <a:schemeClr val="accent3"/>
                </a:solidFill>
                <a:latin typeface="+mj-lt"/>
                <a:ea typeface="+mj-lt"/>
                <a:cs typeface="+mj-lt"/>
              </a:defRPr>
            </a:lvl1pPr>
          </a:lstStyle>
          <a:p>
            <a:pPr>
              <a:spcAft>
                <a:spcPts val="0"/>
              </a:spcAft>
              <a:buNone/>
            </a:pPr>
            <a:r>
              <a:rPr sz="3200"/>
              <a:t>Group project</a:t>
            </a:r>
          </a:p>
        </p:txBody>
      </p:sp>
    </p:spTree>
    <p:extLst>
      <p:ext uri="{BB962C8B-B14F-4D97-AF65-F5344CB8AC3E}">
        <p14:creationId xmlns:p14="http://schemas.microsoft.com/office/powerpoint/2010/main" val="3892851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4"/>
          <p:cNvPicPr>
            <a:picLocks noChangeAspect="1"/>
          </p:cNvPicPr>
          <p:nvPr/>
        </p:nvPicPr>
        <p:blipFill>
          <a:blip r:embed="rId3"/>
          <a:stretch>
            <a:fillRect/>
          </a:stretch>
        </p:blipFill>
        <p:spPr>
          <a:xfrm>
            <a:off x="761998" y="969258"/>
            <a:ext cx="10191320" cy="5671280"/>
          </a:xfrm>
          <a:prstGeom prst="rect">
            <a:avLst/>
          </a:prstGeom>
        </p:spPr>
      </p:pic>
      <p:sp>
        <p:nvSpPr>
          <p:cNvPr id="6" name="Title 3">
            <a:extLst>
              <a:ext uri="{FF2B5EF4-FFF2-40B4-BE49-F238E27FC236}">
                <a16:creationId xmlns:a16="http://schemas.microsoft.com/office/drawing/2014/main" id="{18D97255-8356-5BCD-20DB-9D39B1AAFCA4}"/>
              </a:ext>
            </a:extLst>
          </p:cNvPr>
          <p:cNvSpPr>
            <a:spLocks noGrp="1"/>
          </p:cNvSpPr>
          <p:nvPr/>
        </p:nvSpPr>
        <p:spPr>
          <a:xfrm>
            <a:off x="761998" y="217462"/>
            <a:ext cx="7353300" cy="751796"/>
          </a:xfrm>
          <a:prstGeom prst="rect">
            <a:avLst/>
          </a:prstGeom>
        </p:spPr>
        <p:txBody>
          <a:bodyPr vert="horz" lIns="91440" tIns="45720" rIns="91440" bIns="45720" anchor="t">
            <a:normAutofit/>
          </a:bodyPr>
          <a:lstStyle>
            <a:lvl1pPr algn="l" defTabSz="914400">
              <a:lnSpc>
                <a:spcPct val="90000"/>
              </a:lnSpc>
              <a:spcBef>
                <a:spcPct val="0"/>
              </a:spcBef>
              <a:buNone/>
              <a:defRPr sz="4000" b="1" kern="1200">
                <a:solidFill>
                  <a:schemeClr val="accent3"/>
                </a:solidFill>
                <a:latin typeface="+mj-lt"/>
                <a:ea typeface="+mj-lt"/>
                <a:cs typeface="+mj-lt"/>
              </a:defRPr>
            </a:lvl1pPr>
          </a:lstStyle>
          <a:p>
            <a:pPr>
              <a:spcAft>
                <a:spcPts val="0"/>
              </a:spcAft>
              <a:buNone/>
            </a:pPr>
            <a:r>
              <a:rPr sz="3200"/>
              <a:t>Example slide</a:t>
            </a:r>
          </a:p>
        </p:txBody>
      </p:sp>
    </p:spTree>
    <p:extLst>
      <p:ext uri="{BB962C8B-B14F-4D97-AF65-F5344CB8AC3E}">
        <p14:creationId xmlns:p14="http://schemas.microsoft.com/office/powerpoint/2010/main" val="2329019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6B7CD4BF-311C-B384-8737-CA1FC1B22683}"/>
              </a:ext>
            </a:extLst>
          </p:cNvPr>
          <p:cNvSpPr>
            <a:spLocks noGrp="1"/>
          </p:cNvSpPr>
          <p:nvPr/>
        </p:nvSpPr>
        <p:spPr>
          <a:xfrm>
            <a:off x="761998" y="217462"/>
            <a:ext cx="7992258" cy="751796"/>
          </a:xfrm>
          <a:prstGeom prst="rect">
            <a:avLst/>
          </a:prstGeom>
        </p:spPr>
        <p:txBody>
          <a:bodyPr vert="horz" lIns="91440" tIns="45720" rIns="91440" bIns="45720" anchor="t">
            <a:normAutofit/>
          </a:bodyPr>
          <a:lstStyle>
            <a:lvl1pPr algn="l" defTabSz="914400">
              <a:lnSpc>
                <a:spcPct val="90000"/>
              </a:lnSpc>
              <a:spcBef>
                <a:spcPct val="0"/>
              </a:spcBef>
              <a:buNone/>
              <a:defRPr sz="4000" b="1" kern="1200">
                <a:solidFill>
                  <a:schemeClr val="accent3"/>
                </a:solidFill>
                <a:latin typeface="+mj-lt"/>
                <a:ea typeface="+mj-lt"/>
                <a:cs typeface="+mj-lt"/>
              </a:defRPr>
            </a:lvl1pPr>
          </a:lstStyle>
          <a:p>
            <a:pPr>
              <a:spcAft>
                <a:spcPts val="0"/>
              </a:spcAft>
              <a:buNone/>
            </a:pPr>
            <a:r>
              <a:rPr sz="3200"/>
              <a:t>Password to upload your assignments </a:t>
            </a:r>
          </a:p>
        </p:txBody>
      </p:sp>
      <p:sp>
        <p:nvSpPr>
          <p:cNvPr id="2" name="TextBox 1">
            <a:extLst>
              <a:ext uri="{FF2B5EF4-FFF2-40B4-BE49-F238E27FC236}">
                <a16:creationId xmlns:a16="http://schemas.microsoft.com/office/drawing/2014/main" id="{182816E8-C7FE-7048-38CA-CFB6A43A69E1}"/>
              </a:ext>
            </a:extLst>
          </p:cNvPr>
          <p:cNvSpPr>
            <a:spLocks noGrp="1"/>
          </p:cNvSpPr>
          <p:nvPr/>
        </p:nvSpPr>
        <p:spPr>
          <a:xfrm>
            <a:off x="761998" y="1798820"/>
            <a:ext cx="6562694" cy="369332"/>
          </a:xfrm>
          <a:prstGeom prst="rect">
            <a:avLst/>
          </a:prstGeom>
          <a:noFill/>
        </p:spPr>
        <p:txBody>
          <a:bodyPr wrap="none">
            <a:spAutoFit/>
          </a:bodyPr>
          <a:lstStyle/>
          <a:p>
            <a:r>
              <a:t>Written in the classroom’s whiteboard. Please ask a classmate</a:t>
            </a:r>
          </a:p>
        </p:txBody>
      </p:sp>
    </p:spTree>
    <p:extLst>
      <p:ext uri="{BB962C8B-B14F-4D97-AF65-F5344CB8AC3E}">
        <p14:creationId xmlns:p14="http://schemas.microsoft.com/office/powerpoint/2010/main" val="3308284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E73D3F1-54B0-531E-63D9-28C7E3A27A5C}"/>
              </a:ext>
            </a:extLst>
          </p:cNvPr>
          <p:cNvSpPr>
            <a:spLocks noGrp="1"/>
          </p:cNvSpPr>
          <p:nvPr>
            <p:ph type="body" idx="11"/>
          </p:nvPr>
        </p:nvSpPr>
        <p:spPr>
          <a:xfrm>
            <a:off x="761998" y="977899"/>
            <a:ext cx="9528630" cy="5482861"/>
          </a:xfrm>
        </p:spPr>
        <p:txBody>
          <a:bodyPr>
            <a:normAutofit lnSpcReduction="10000"/>
          </a:bodyPr>
          <a:lstStyle/>
          <a:p>
            <a:r>
              <a:rPr b="1" dirty="0"/>
              <a:t>Timeframe: (</a:t>
            </a:r>
            <a:r>
              <a:rPr b="1" dirty="0" err="1"/>
              <a:t>cont</a:t>
            </a:r>
            <a:r>
              <a:rPr b="1" dirty="0"/>
              <a:t>)</a:t>
            </a:r>
          </a:p>
          <a:p>
            <a:r>
              <a:rPr b="0" dirty="0"/>
              <a:t>Before feedback moment on week 6:</a:t>
            </a:r>
          </a:p>
          <a:p>
            <a:pPr marL="285750" indent="-285750">
              <a:buFont typeface="Arial"/>
              <a:buChar char="•"/>
            </a:pPr>
            <a:r>
              <a:rPr b="0" dirty="0"/>
              <a:t>Run a text classification model of your choice (you’ll learn in week 5)</a:t>
            </a:r>
          </a:p>
          <a:p>
            <a:pPr marL="285750" indent="-285750">
              <a:buFont typeface="Arial"/>
              <a:buChar char="•"/>
            </a:pPr>
            <a:r>
              <a:rPr b="0" dirty="0"/>
              <a:t>Discuss the biases you expect to arise from this.</a:t>
            </a:r>
          </a:p>
          <a:p>
            <a:pPr marL="285750" indent="-285750">
              <a:buFont typeface="Arial"/>
              <a:buChar char="•"/>
            </a:pPr>
            <a:r>
              <a:rPr b="0" dirty="0"/>
              <a:t>Reflect on the ethical and power imbalances of the data used.</a:t>
            </a:r>
          </a:p>
          <a:p>
            <a:r>
              <a:rPr b="0" dirty="0"/>
              <a:t>Week 6: feedback moment (15 min/group). Come prepared! (bring slides)</a:t>
            </a:r>
          </a:p>
          <a:p>
            <a:endParaRPr b="0" dirty="0"/>
          </a:p>
          <a:p>
            <a:r>
              <a:rPr b="0" dirty="0"/>
              <a:t>Before feedback moment on week 7:</a:t>
            </a:r>
          </a:p>
          <a:p>
            <a:pPr marL="569214" lvl="1" indent="-285750">
              <a:buNone/>
            </a:pPr>
            <a:r>
              <a:rPr dirty="0"/>
              <a:t>Fill the ethical questionnaire (PRIDE). </a:t>
            </a:r>
          </a:p>
          <a:p>
            <a:pPr marL="569214" lvl="1" indent="-285750">
              <a:buNone/>
            </a:pPr>
            <a:r>
              <a:rPr dirty="0"/>
              <a:t>Elaborate how you would expand the study to tackle the issues you encounter</a:t>
            </a:r>
          </a:p>
          <a:p>
            <a:pPr marL="569214" lvl="1" indent="-285750">
              <a:buNone/>
            </a:pPr>
            <a:r>
              <a:rPr dirty="0"/>
              <a:t>Draft a presentation</a:t>
            </a:r>
          </a:p>
          <a:p>
            <a:pPr marL="285750" indent="-285750">
              <a:buNone/>
            </a:pPr>
            <a:r>
              <a:rPr b="0" dirty="0"/>
              <a:t>Week 7: Feedback moment (15 min/group). Come prepared! (bring slides)</a:t>
            </a:r>
          </a:p>
          <a:p>
            <a:pPr marL="285750" indent="-285750">
              <a:buNone/>
            </a:pPr>
            <a:endParaRPr b="0" dirty="0"/>
          </a:p>
          <a:p>
            <a:pPr marL="285750" indent="-285750">
              <a:buNone/>
            </a:pPr>
            <a:r>
              <a:rPr b="0" dirty="0"/>
              <a:t>Week 8: Group presentation</a:t>
            </a:r>
          </a:p>
          <a:p>
            <a:pPr marL="285750" indent="-285750">
              <a:buNone/>
            </a:pPr>
            <a:r>
              <a:rPr b="0" dirty="0"/>
              <a:t>Week 9:: </a:t>
            </a:r>
            <a:r>
              <a:rPr lang="en-US" b="0" dirty="0"/>
              <a:t>Q&amp;A and </a:t>
            </a:r>
            <a:r>
              <a:rPr b="0" dirty="0"/>
              <a:t>Exam</a:t>
            </a:r>
          </a:p>
        </p:txBody>
      </p:sp>
      <p:sp>
        <p:nvSpPr>
          <p:cNvPr id="3" name="Title 3">
            <a:extLst>
              <a:ext uri="{FF2B5EF4-FFF2-40B4-BE49-F238E27FC236}">
                <a16:creationId xmlns:a16="http://schemas.microsoft.com/office/drawing/2014/main" id="{447C02EE-FFF5-FBA3-7403-83748BF469CF}"/>
              </a:ext>
            </a:extLst>
          </p:cNvPr>
          <p:cNvSpPr>
            <a:spLocks noGrp="1"/>
          </p:cNvSpPr>
          <p:nvPr/>
        </p:nvSpPr>
        <p:spPr>
          <a:xfrm>
            <a:off x="761998" y="217462"/>
            <a:ext cx="7353300" cy="751796"/>
          </a:xfrm>
          <a:prstGeom prst="rect">
            <a:avLst/>
          </a:prstGeom>
        </p:spPr>
        <p:txBody>
          <a:bodyPr vert="horz" lIns="91440" tIns="45720" rIns="91440" bIns="45720" anchor="t">
            <a:normAutofit/>
          </a:bodyPr>
          <a:lstStyle>
            <a:lvl1pPr algn="l" defTabSz="914400">
              <a:lnSpc>
                <a:spcPct val="90000"/>
              </a:lnSpc>
              <a:spcBef>
                <a:spcPct val="0"/>
              </a:spcBef>
              <a:buNone/>
              <a:defRPr sz="4000" b="1" kern="1200">
                <a:solidFill>
                  <a:schemeClr val="accent3"/>
                </a:solidFill>
                <a:latin typeface="+mj-lt"/>
                <a:ea typeface="+mj-lt"/>
                <a:cs typeface="+mj-lt"/>
              </a:defRPr>
            </a:lvl1pPr>
          </a:lstStyle>
          <a:p>
            <a:pPr>
              <a:spcAft>
                <a:spcPts val="0"/>
              </a:spcAft>
              <a:buNone/>
            </a:pPr>
            <a:r>
              <a:rPr sz="3200"/>
              <a:t>Group project</a:t>
            </a:r>
          </a:p>
        </p:txBody>
      </p:sp>
    </p:spTree>
    <p:extLst>
      <p:ext uri="{BB962C8B-B14F-4D97-AF65-F5344CB8AC3E}">
        <p14:creationId xmlns:p14="http://schemas.microsoft.com/office/powerpoint/2010/main" val="2064689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98917E-3572-E3F2-B13A-212349785A8D}"/>
              </a:ext>
            </a:extLst>
          </p:cNvPr>
          <p:cNvSpPr>
            <a:spLocks noGrp="1"/>
          </p:cNvSpPr>
          <p:nvPr>
            <p:ph type="body" idx="11"/>
          </p:nvPr>
        </p:nvSpPr>
        <p:spPr>
          <a:xfrm>
            <a:off x="761999" y="1422400"/>
            <a:ext cx="9528630" cy="4902200"/>
          </a:xfrm>
        </p:spPr>
        <p:txBody>
          <a:bodyPr>
            <a:normAutofit/>
          </a:bodyPr>
          <a:lstStyle/>
          <a:p>
            <a:pPr marL="285750" indent="-285750">
              <a:buFont typeface="Arial"/>
              <a:buChar char="•"/>
            </a:pPr>
            <a:r>
              <a:rPr b="0"/>
              <a:t>30% process: Course-wide individual grade</a:t>
            </a:r>
          </a:p>
          <a:p>
            <a:pPr marL="569214" lvl="1" indent="-285750">
              <a:buNone/>
            </a:pPr>
            <a:r>
              <a:rPr b="0"/>
              <a:t>The same process grade is used for both assignments</a:t>
            </a:r>
          </a:p>
          <a:p>
            <a:pPr marL="569214" lvl="1" indent="-285750">
              <a:buNone/>
            </a:pPr>
            <a:r>
              <a:t>Attendance and active participation in all four feedback moments are mandatory</a:t>
            </a:r>
          </a:p>
          <a:p>
            <a:pPr marL="569214" lvl="1" indent="-285750">
              <a:buNone/>
            </a:pPr>
            <a:r>
              <a:rPr b="0"/>
              <a:t>Assignment 1 group result first. Final grades after week 7. See the next slide for points and evidence</a:t>
            </a:r>
          </a:p>
          <a:p>
            <a:pPr marL="569214" lvl="1" indent="-285750">
              <a:buNone/>
            </a:pPr>
            <a:endParaRPr b="0"/>
          </a:p>
          <a:p>
            <a:pPr marL="285750" indent="-285750">
              <a:buFont typeface="Arial"/>
              <a:buChar char="•"/>
            </a:pPr>
            <a:r>
              <a:rPr b="0"/>
              <a:t>70% group work</a:t>
            </a:r>
          </a:p>
          <a:p>
            <a:pPr marL="569214" lvl="1" indent="-285750">
              <a:buNone/>
            </a:pPr>
            <a:r>
              <a:rPr b="0"/>
              <a:t>Assignment 1: Report (&lt;1,000 words, excluding references and potential figures).</a:t>
            </a:r>
          </a:p>
          <a:p>
            <a:pPr marL="569214" lvl="1" indent="-285750">
              <a:buNone/>
            </a:pPr>
            <a:r>
              <a:t>Assignment 2: Presentation (12 minutes + 5 minutes Q&amp;A)</a:t>
            </a:r>
            <a:endParaRPr b="0"/>
          </a:p>
        </p:txBody>
      </p:sp>
      <p:sp>
        <p:nvSpPr>
          <p:cNvPr id="4" name="Title 3">
            <a:extLst>
              <a:ext uri="{FF2B5EF4-FFF2-40B4-BE49-F238E27FC236}">
                <a16:creationId xmlns:a16="http://schemas.microsoft.com/office/drawing/2014/main" id="{A02C80E6-E0B7-9EA4-F990-C410391581D8}"/>
              </a:ext>
            </a:extLst>
          </p:cNvPr>
          <p:cNvSpPr>
            <a:spLocks noGrp="1"/>
          </p:cNvSpPr>
          <p:nvPr>
            <p:ph type="title"/>
          </p:nvPr>
        </p:nvSpPr>
        <p:spPr>
          <a:xfrm>
            <a:off x="761999" y="378504"/>
            <a:ext cx="10450643" cy="1189038"/>
          </a:xfrm>
        </p:spPr>
        <p:txBody>
          <a:bodyPr/>
          <a:lstStyle/>
          <a:p>
            <a:r>
              <a:t>Group project grading (see rubrics online)</a:t>
            </a:r>
          </a:p>
        </p:txBody>
      </p:sp>
    </p:spTree>
    <p:extLst>
      <p:ext uri="{BB962C8B-B14F-4D97-AF65-F5344CB8AC3E}">
        <p14:creationId xmlns:p14="http://schemas.microsoft.com/office/powerpoint/2010/main" val="20054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98917E-3572-E3F2-B13A-212349785A8D}"/>
              </a:ext>
            </a:extLst>
          </p:cNvPr>
          <p:cNvSpPr>
            <a:spLocks noGrp="1"/>
          </p:cNvSpPr>
          <p:nvPr>
            <p:ph type="body" idx="11"/>
          </p:nvPr>
        </p:nvSpPr>
        <p:spPr>
          <a:xfrm>
            <a:off x="761999" y="1422400"/>
            <a:ext cx="9528630" cy="4902200"/>
          </a:xfrm>
        </p:spPr>
        <p:txBody>
          <a:bodyPr>
            <a:normAutofit/>
          </a:bodyPr>
          <a:lstStyle/>
          <a:p>
            <a:pPr marL="285750" indent="-285750">
              <a:buFont typeface="Arial"/>
              <a:buChar char="•"/>
            </a:pPr>
            <a:r>
              <a:rPr b="0" dirty="0"/>
              <a:t>Four feedback sessions: 20 points each (weeks 3, 4, 6 and 7)</a:t>
            </a:r>
          </a:p>
          <a:p>
            <a:pPr marL="569214" lvl="1" indent="-285750">
              <a:buNone/>
            </a:pPr>
            <a:r>
              <a:rPr b="0" dirty="0"/>
              <a:t>20 points for attendance and participation at the expected level</a:t>
            </a:r>
          </a:p>
          <a:p>
            <a:pPr marL="569214" lvl="1" indent="-285750">
              <a:buNone/>
            </a:pPr>
            <a:r>
              <a:rPr dirty="0"/>
              <a:t>0 points if absent, not participating, or participating very little</a:t>
            </a:r>
          </a:p>
          <a:p>
            <a:pPr marL="569214" lvl="1" indent="-285750">
              <a:buNone/>
            </a:pPr>
            <a:r>
              <a:rPr b="0" dirty="0"/>
              <a:t>No intermediate scores. Four sessions = 80 points = 8.0</a:t>
            </a:r>
          </a:p>
          <a:p>
            <a:pPr marL="569214" lvl="1" indent="-285750">
              <a:buNone/>
            </a:pPr>
            <a:endParaRPr b="0" dirty="0"/>
          </a:p>
          <a:p>
            <a:pPr marL="285750" indent="-285750">
              <a:buFont typeface="Arial"/>
              <a:buChar char="•"/>
            </a:pPr>
            <a:r>
              <a:rPr b="0" dirty="0"/>
              <a:t>20 extra points (all or nothing) for consistently doing more than expected; 100 points = 10.0</a:t>
            </a:r>
          </a:p>
          <a:p>
            <a:pPr marL="569214" lvl="1" indent="-285750">
              <a:buNone/>
            </a:pPr>
            <a:r>
              <a:rPr b="0" dirty="0"/>
              <a:t>Evidence: answers to practical instructors and task distribution and contributors in the progress slides</a:t>
            </a:r>
          </a:p>
        </p:txBody>
      </p:sp>
      <p:sp>
        <p:nvSpPr>
          <p:cNvPr id="4" name="Title 3">
            <a:extLst>
              <a:ext uri="{FF2B5EF4-FFF2-40B4-BE49-F238E27FC236}">
                <a16:creationId xmlns:a16="http://schemas.microsoft.com/office/drawing/2014/main" id="{A02C80E6-E0B7-9EA4-F990-C410391581D8}"/>
              </a:ext>
            </a:extLst>
          </p:cNvPr>
          <p:cNvSpPr>
            <a:spLocks noGrp="1"/>
          </p:cNvSpPr>
          <p:nvPr>
            <p:ph type="title"/>
          </p:nvPr>
        </p:nvSpPr>
        <p:spPr>
          <a:xfrm>
            <a:off x="761999" y="378504"/>
            <a:ext cx="10450643" cy="1189038"/>
          </a:xfrm>
        </p:spPr>
        <p:txBody>
          <a:bodyPr/>
          <a:lstStyle/>
          <a:p>
            <a:r>
              <a:t>Individual process grade</a:t>
            </a:r>
          </a:p>
        </p:txBody>
      </p:sp>
    </p:spTree>
    <p:extLst>
      <p:ext uri="{BB962C8B-B14F-4D97-AF65-F5344CB8AC3E}">
        <p14:creationId xmlns:p14="http://schemas.microsoft.com/office/powerpoint/2010/main" val="20054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FBB0DD7-5251-A8E0-5653-3F2C4A6557CC}"/>
              </a:ext>
            </a:extLst>
          </p:cNvPr>
          <p:cNvSpPr>
            <a:spLocks noGrp="1"/>
          </p:cNvSpPr>
          <p:nvPr>
            <p:ph type="body" idx="11"/>
          </p:nvPr>
        </p:nvSpPr>
        <p:spPr>
          <a:xfrm>
            <a:off x="761999" y="1422400"/>
            <a:ext cx="9528630" cy="4902200"/>
          </a:xfrm>
        </p:spPr>
        <p:txBody>
          <a:bodyPr>
            <a:normAutofit/>
          </a:bodyPr>
          <a:lstStyle/>
          <a:p>
            <a:pPr marL="285750" indent="-285750">
              <a:buFont typeface="Arial"/>
              <a:buChar char="•"/>
            </a:pPr>
            <a:r>
              <a:t>The use of generative AI must be clearly indicated in the assignment, including a link to the full conversation with the tool (either using the Share button in the top-right corner, or exporting the conversation to an online document).</a:t>
            </a:r>
            <a:endParaRPr b="0"/>
          </a:p>
        </p:txBody>
      </p:sp>
      <p:sp>
        <p:nvSpPr>
          <p:cNvPr id="4" name="Title 3">
            <a:extLst>
              <a:ext uri="{FF2B5EF4-FFF2-40B4-BE49-F238E27FC236}">
                <a16:creationId xmlns:a16="http://schemas.microsoft.com/office/drawing/2014/main" id="{D19B0B06-B2A7-65D8-2F7E-D7953B6289B7}"/>
              </a:ext>
            </a:extLst>
          </p:cNvPr>
          <p:cNvSpPr>
            <a:spLocks noGrp="1"/>
          </p:cNvSpPr>
          <p:nvPr>
            <p:ph type="title"/>
          </p:nvPr>
        </p:nvSpPr>
        <p:spPr>
          <a:xfrm>
            <a:off x="761999" y="378504"/>
            <a:ext cx="10450643" cy="1189038"/>
          </a:xfrm>
        </p:spPr>
        <p:txBody>
          <a:bodyPr/>
          <a:lstStyle/>
          <a:p>
            <a:r>
              <a:t>Use of Generative AI</a:t>
            </a:r>
          </a:p>
        </p:txBody>
      </p:sp>
      <p:pic>
        <p:nvPicPr>
          <p:cNvPr id="8" name="Picture 2"/>
          <p:cNvPicPr>
            <a:picLocks noChangeAspect="1"/>
          </p:cNvPicPr>
          <p:nvPr/>
        </p:nvPicPr>
        <p:blipFill>
          <a:blip r:embed="rId3"/>
          <a:stretch>
            <a:fillRect/>
          </a:stretch>
        </p:blipFill>
        <p:spPr>
          <a:xfrm>
            <a:off x="2101120" y="2611438"/>
            <a:ext cx="7772400" cy="3995362"/>
          </a:xfrm>
          <a:prstGeom prst="rect">
            <a:avLst/>
          </a:prstGeom>
        </p:spPr>
      </p:pic>
    </p:spTree>
    <p:extLst>
      <p:ext uri="{BB962C8B-B14F-4D97-AF65-F5344CB8AC3E}">
        <p14:creationId xmlns:p14="http://schemas.microsoft.com/office/powerpoint/2010/main" val="1269325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98917E-3572-E3F2-B13A-212349785A8D}"/>
              </a:ext>
            </a:extLst>
          </p:cNvPr>
          <p:cNvSpPr>
            <a:spLocks noGrp="1"/>
          </p:cNvSpPr>
          <p:nvPr>
            <p:ph type="body" idx="11"/>
          </p:nvPr>
        </p:nvSpPr>
        <p:spPr>
          <a:xfrm>
            <a:off x="761999" y="1422400"/>
            <a:ext cx="9528630" cy="4902200"/>
          </a:xfrm>
        </p:spPr>
        <p:txBody>
          <a:bodyPr>
            <a:normAutofit/>
          </a:bodyPr>
          <a:lstStyle/>
          <a:p>
            <a:pPr marL="285750" indent="-285750">
              <a:buFont typeface="Arial"/>
              <a:buChar char="•"/>
            </a:pPr>
            <a:r>
              <a:rPr b="0" dirty="0"/>
              <a:t>Required section in Assignment 1</a:t>
            </a:r>
          </a:p>
          <a:p>
            <a:pPr marL="569214" lvl="1" indent="-285750">
              <a:buNone/>
            </a:pPr>
            <a:r>
              <a:rPr b="0" dirty="0"/>
              <a:t>Link the relevant GenAI conversation or conversations</a:t>
            </a:r>
          </a:p>
          <a:p>
            <a:pPr marL="569214" lvl="1" indent="-285750">
              <a:buNone/>
            </a:pPr>
            <a:r>
              <a:rPr dirty="0"/>
              <a:t>Identify where GenAI resulted in cognitive offloading</a:t>
            </a:r>
          </a:p>
          <a:p>
            <a:pPr marL="569214" lvl="1" indent="-285750">
              <a:buNone/>
            </a:pPr>
            <a:r>
              <a:rPr b="0" dirty="0"/>
              <a:t>Identify where GenAI supported learning</a:t>
            </a:r>
          </a:p>
          <a:p>
            <a:pPr marL="569214" lvl="1" indent="-285750">
              <a:buNone/>
            </a:pPr>
            <a:endParaRPr b="0" dirty="0"/>
          </a:p>
          <a:p>
            <a:pPr marL="285750" indent="-285750">
              <a:buFont typeface="Arial"/>
              <a:buChar char="•"/>
            </a:pPr>
            <a:r>
              <a:rPr b="0" dirty="0"/>
              <a:t>Not graded or otherwise taken into consideration</a:t>
            </a:r>
          </a:p>
          <a:p>
            <a:pPr marL="569214" lvl="1" indent="-285750">
              <a:buNone/>
            </a:pPr>
            <a:r>
              <a:rPr b="0" dirty="0"/>
              <a:t>Does not count towards the 1,000-word limit</a:t>
            </a:r>
          </a:p>
          <a:p>
            <a:pPr marL="569214" lvl="1" indent="-285750">
              <a:buNone/>
            </a:pPr>
            <a:endParaRPr b="0" dirty="0"/>
          </a:p>
        </p:txBody>
      </p:sp>
      <p:sp>
        <p:nvSpPr>
          <p:cNvPr id="4" name="Title 3">
            <a:extLst>
              <a:ext uri="{FF2B5EF4-FFF2-40B4-BE49-F238E27FC236}">
                <a16:creationId xmlns:a16="http://schemas.microsoft.com/office/drawing/2014/main" id="{A02C80E6-E0B7-9EA4-F990-C410391581D8}"/>
              </a:ext>
            </a:extLst>
          </p:cNvPr>
          <p:cNvSpPr>
            <a:spLocks noGrp="1"/>
          </p:cNvSpPr>
          <p:nvPr>
            <p:ph type="title"/>
          </p:nvPr>
        </p:nvSpPr>
        <p:spPr>
          <a:xfrm>
            <a:off x="761999" y="378504"/>
            <a:ext cx="10450643" cy="1189038"/>
          </a:xfrm>
        </p:spPr>
        <p:txBody>
          <a:bodyPr/>
          <a:lstStyle/>
          <a:p>
            <a:r>
              <a:t>Assignment 1 GenAI reflection</a:t>
            </a:r>
          </a:p>
        </p:txBody>
      </p:sp>
    </p:spTree>
    <p:extLst>
      <p:ext uri="{BB962C8B-B14F-4D97-AF65-F5344CB8AC3E}">
        <p14:creationId xmlns:p14="http://schemas.microsoft.com/office/powerpoint/2010/main" val="20054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AAB302DB-1873-34AC-EC60-847FE10C6593}"/>
              </a:ext>
            </a:extLst>
          </p:cNvPr>
          <p:cNvSpPr>
            <a:spLocks noGrp="1"/>
          </p:cNvSpPr>
          <p:nvPr>
            <p:ph type="title"/>
          </p:nvPr>
        </p:nvSpPr>
        <p:spPr>
          <a:xfrm>
            <a:off x="457200" y="468085"/>
            <a:ext cx="8589818" cy="677410"/>
          </a:xfrm>
        </p:spPr>
        <p:txBody>
          <a:bodyPr>
            <a:normAutofit/>
          </a:bodyPr>
          <a:lstStyle/>
          <a:p>
            <a:r>
              <a:t>Group contract</a:t>
            </a:r>
          </a:p>
        </p:txBody>
      </p:sp>
      <p:sp>
        <p:nvSpPr>
          <p:cNvPr id="7" name="TextBox 6">
            <a:extLst>
              <a:ext uri="{FF2B5EF4-FFF2-40B4-BE49-F238E27FC236}">
                <a16:creationId xmlns:a16="http://schemas.microsoft.com/office/drawing/2014/main" id="{350208DB-751B-A80E-BC05-681556EBB898}"/>
              </a:ext>
            </a:extLst>
          </p:cNvPr>
          <p:cNvSpPr>
            <a:spLocks noGrp="1"/>
          </p:cNvSpPr>
          <p:nvPr/>
        </p:nvSpPr>
        <p:spPr>
          <a:xfrm>
            <a:off x="457200" y="1145495"/>
            <a:ext cx="7547548" cy="5601533"/>
          </a:xfrm>
          <a:prstGeom prst="rect">
            <a:avLst/>
          </a:prstGeom>
          <a:noFill/>
        </p:spPr>
        <p:txBody>
          <a:bodyPr wrap="square">
            <a:spAutoFit/>
          </a:bodyPr>
          <a:lstStyle/>
          <a:p>
            <a:r>
              <a:t>Group work is often great (deeper learning, teamwork skills, community)</a:t>
            </a:r>
          </a:p>
          <a:p>
            <a:r>
              <a:t>But it can be challenging when working styles or expectations clash.</a:t>
            </a:r>
          </a:p>
          <a:p>
            <a:endParaRPr/>
          </a:p>
          <a:p>
            <a:endParaRPr/>
          </a:p>
          <a:p>
            <a:r>
              <a:t>A group contract sets ground rules and expectations and mitigate these problems.</a:t>
            </a:r>
          </a:p>
          <a:p>
            <a:endParaRPr/>
          </a:p>
          <a:p>
            <a:endParaRPr/>
          </a:p>
          <a:p>
            <a:r>
              <a:t>Please spend 2 minutes individually to think about and write down:</a:t>
            </a:r>
          </a:p>
          <a:p>
            <a:r>
              <a:t>* Four ground rules that will benefit you and your group (e.g., having regular meetings every week)</a:t>
            </a:r>
          </a:p>
          <a:p>
            <a:r>
              <a:t>* 1 – 4 things you have experienced in the past and you DO NOT want to happen, alongside with how you think it can be prevented</a:t>
            </a:r>
          </a:p>
          <a:p>
            <a:endParaRPr/>
          </a:p>
          <a:p>
            <a:r>
              <a:rPr sz="1600" i="1"/>
              <a:t>(activity based on Gloria Totten’s group contract template)</a:t>
            </a:r>
          </a:p>
          <a:p>
            <a:endParaRPr/>
          </a:p>
          <a:p>
            <a:endParaRPr/>
          </a:p>
          <a:p>
            <a:endParaRPr/>
          </a:p>
          <a:p>
            <a:endParaRPr/>
          </a:p>
          <a:p>
            <a:endParaRPr/>
          </a:p>
        </p:txBody>
      </p:sp>
      <p:pic>
        <p:nvPicPr>
          <p:cNvPr id="11" name="Picture 2"/>
          <p:cNvPicPr>
            <a:picLocks noChangeAspect="1"/>
          </p:cNvPicPr>
          <p:nvPr/>
        </p:nvPicPr>
        <p:blipFill>
          <a:blip r:embed="rId3"/>
          <a:stretch>
            <a:fillRect/>
          </a:stretch>
        </p:blipFill>
        <p:spPr>
          <a:xfrm>
            <a:off x="8770426" y="1750997"/>
            <a:ext cx="3421574" cy="4013214"/>
          </a:xfrm>
          <a:prstGeom prst="rect">
            <a:avLst/>
          </a:prstGeom>
        </p:spPr>
      </p:pic>
    </p:spTree>
    <p:extLst>
      <p:ext uri="{BB962C8B-B14F-4D97-AF65-F5344CB8AC3E}">
        <p14:creationId xmlns:p14="http://schemas.microsoft.com/office/powerpoint/2010/main" val="2864029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6066FC0C-6028-12FE-377D-EEC038983C5D}"/>
              </a:ext>
            </a:extLst>
          </p:cNvPr>
          <p:cNvSpPr>
            <a:spLocks noGrp="1"/>
          </p:cNvSpPr>
          <p:nvPr>
            <p:ph type="title"/>
          </p:nvPr>
        </p:nvSpPr>
        <p:spPr>
          <a:xfrm>
            <a:off x="457200" y="468085"/>
            <a:ext cx="8589818" cy="677410"/>
          </a:xfrm>
        </p:spPr>
        <p:txBody>
          <a:bodyPr>
            <a:normAutofit fontScale="90000"/>
          </a:bodyPr>
          <a:lstStyle/>
          <a:p>
            <a:r>
              <a:t>Final 20 minutes: draft group contract</a:t>
            </a:r>
          </a:p>
        </p:txBody>
      </p:sp>
      <p:sp>
        <p:nvSpPr>
          <p:cNvPr id="7" name="TextBox 6">
            <a:extLst>
              <a:ext uri="{FF2B5EF4-FFF2-40B4-BE49-F238E27FC236}">
                <a16:creationId xmlns:a16="http://schemas.microsoft.com/office/drawing/2014/main" id="{CB9C9DEE-9A69-3F3F-A6BD-A02445097629}"/>
              </a:ext>
            </a:extLst>
          </p:cNvPr>
          <p:cNvSpPr>
            <a:spLocks noGrp="1"/>
          </p:cNvSpPr>
          <p:nvPr/>
        </p:nvSpPr>
        <p:spPr>
          <a:xfrm>
            <a:off x="457200" y="1145495"/>
            <a:ext cx="11130197" cy="3970318"/>
          </a:xfrm>
          <a:prstGeom prst="rect">
            <a:avLst/>
          </a:prstGeom>
          <a:noFill/>
        </p:spPr>
        <p:txBody>
          <a:bodyPr wrap="square">
            <a:spAutoFit/>
          </a:bodyPr>
          <a:lstStyle/>
          <a:p>
            <a:r>
              <a:rPr dirty="0"/>
              <a:t>Discuss as a group how you envision working together. Discuss each person’s responsibilities and make agreements on how to collaborate</a:t>
            </a:r>
          </a:p>
          <a:p>
            <a:endParaRPr dirty="0"/>
          </a:p>
          <a:p>
            <a:r>
              <a:rPr dirty="0"/>
              <a:t>You can use the template posted on the website (project guidelines), or here: </a:t>
            </a:r>
            <a:r>
              <a:rPr dirty="0">
                <a:hlinkClick r:id="rId3"/>
              </a:rPr>
              <a:t>https://docs.google.com/document/d/1VdUVTzQaxsFTXqVFKyJlNi9FZ_WlRKkHP-da_1MlPxI</a:t>
            </a:r>
            <a:endParaRPr dirty="0"/>
          </a:p>
          <a:p>
            <a:r>
              <a:rPr dirty="0"/>
              <a:t>(click on File -&gt; Make a copy)</a:t>
            </a:r>
          </a:p>
          <a:p>
            <a:endParaRPr dirty="0"/>
          </a:p>
          <a:p>
            <a:r>
              <a:rPr dirty="0"/>
              <a:t>Although completing and signing it is not required, we encourage you to do so. This will allow us to intervene in the rare case conflict arises.</a:t>
            </a:r>
          </a:p>
          <a:p>
            <a:pPr marL="285750" indent="-285750">
              <a:buFont typeface="Arial"/>
              <a:buChar char="•"/>
            </a:pPr>
            <a:endParaRPr dirty="0"/>
          </a:p>
          <a:p>
            <a:pPr marL="285750" indent="-285750">
              <a:buFont typeface="Arial"/>
              <a:buChar char="•"/>
            </a:pPr>
            <a:endParaRPr dirty="0"/>
          </a:p>
          <a:p>
            <a:r>
              <a:rPr dirty="0"/>
              <a:t>First step for the group project (start already this week):</a:t>
            </a:r>
          </a:p>
          <a:p>
            <a:pPr marL="285750" indent="-285750">
              <a:buFont typeface="Arial"/>
              <a:buChar char="•"/>
            </a:pPr>
            <a:r>
              <a:rPr dirty="0"/>
              <a:t>Read project guidelines</a:t>
            </a:r>
          </a:p>
          <a:p>
            <a:pPr marL="285750" indent="-285750">
              <a:buFont typeface="Arial"/>
              <a:buChar char="•"/>
            </a:pPr>
            <a:r>
              <a:rPr dirty="0"/>
              <a:t>Start thinking about possible research questions and datasets that could help answering it. Keep it simple!</a:t>
            </a:r>
          </a:p>
        </p:txBody>
      </p:sp>
    </p:spTree>
    <p:extLst>
      <p:ext uri="{BB962C8B-B14F-4D97-AF65-F5344CB8AC3E}">
        <p14:creationId xmlns:p14="http://schemas.microsoft.com/office/powerpoint/2010/main" val="554612112"/>
      </p:ext>
    </p:extLst>
  </p:cSld>
  <p:clrMapOvr>
    <a:masterClrMapping/>
  </p:clrMapOvr>
</p:sld>
</file>

<file path=ppt/theme/theme1.xml><?xml version="1.0" encoding="utf-8"?>
<a:theme xmlns:a="http://schemas.openxmlformats.org/drawingml/2006/main" name="Office Theme">
  <a:themeElements>
    <a:clrScheme name="Custom 9">
      <a:dk1>
        <a:srgbClr val="424242"/>
      </a:dk1>
      <a:lt1>
        <a:srgbClr val="EAEAEA"/>
      </a:lt1>
      <a:dk2>
        <a:srgbClr val="212121"/>
      </a:dk2>
      <a:lt2>
        <a:srgbClr val="FEFFFF"/>
      </a:lt2>
      <a:accent1>
        <a:srgbClr val="A1BCC0"/>
      </a:accent1>
      <a:accent2>
        <a:srgbClr val="13414A"/>
      </a:accent2>
      <a:accent3>
        <a:srgbClr val="14424A"/>
      </a:accent3>
      <a:accent4>
        <a:srgbClr val="D6D6D6"/>
      </a:accent4>
      <a:accent5>
        <a:srgbClr val="314B5F"/>
      </a:accent5>
      <a:accent6>
        <a:srgbClr val="E9E9E9"/>
      </a:accent6>
      <a:hlink>
        <a:srgbClr val="A1BCC0"/>
      </a:hlink>
      <a:folHlink>
        <a:srgbClr val="507389"/>
      </a:folHlink>
    </a:clrScheme>
    <a:fontScheme name="Custom 4">
      <a:majorFont>
        <a:latin typeface="Segoe UI"/>
        <a:ea typeface=""/>
        <a:cs typeface=""/>
      </a:majorFont>
      <a:minorFont>
        <a:latin typeface="Segoe UI"/>
        <a:ea typeface=""/>
        <a:cs typeface=""/>
      </a:minorFont>
    </a:fontScheme>
    <a:fmtScheme name="Custom 9">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Custom 9">
      <a:dk1>
        <a:srgbClr val="424242"/>
      </a:dk1>
      <a:lt1>
        <a:srgbClr val="EAEAEA"/>
      </a:lt1>
      <a:dk2>
        <a:srgbClr val="212121"/>
      </a:dk2>
      <a:lt2>
        <a:srgbClr val="FEFFFF"/>
      </a:lt2>
      <a:accent1>
        <a:srgbClr val="A1BCC0"/>
      </a:accent1>
      <a:accent2>
        <a:srgbClr val="13414A"/>
      </a:accent2>
      <a:accent3>
        <a:srgbClr val="14424A"/>
      </a:accent3>
      <a:accent4>
        <a:srgbClr val="D6D6D6"/>
      </a:accent4>
      <a:accent5>
        <a:srgbClr val="314B5F"/>
      </a:accent5>
      <a:accent6>
        <a:srgbClr val="E9E9E9"/>
      </a:accent6>
      <a:hlink>
        <a:srgbClr val="A1BCC0"/>
      </a:hlink>
      <a:folHlink>
        <a:srgbClr val="507389"/>
      </a:folHlink>
    </a:clrScheme>
    <a:fontScheme name="Custom 4">
      <a:majorFont>
        <a:latin typeface="Segoe UI"/>
        <a:ea typeface=""/>
        <a:cs typeface=""/>
      </a:majorFont>
      <a:minorFont>
        <a:latin typeface="Segoe UI"/>
        <a:ea typeface=""/>
        <a:cs typeface=""/>
      </a:minorFont>
    </a:fontScheme>
    <a:fmtScheme name="Custom 9">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1167</Words>
  <Application>Microsoft Macintosh PowerPoint</Application>
  <DocSecurity>0</DocSecurity>
  <PresentationFormat>Widescreen</PresentationFormat>
  <Paragraphs>123</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Segoe UI</vt:lpstr>
      <vt:lpstr>Office Theme</vt:lpstr>
      <vt:lpstr>Computer labs</vt:lpstr>
      <vt:lpstr>Group project</vt:lpstr>
      <vt:lpstr>PowerPoint Presentation</vt:lpstr>
      <vt:lpstr>PowerPoint Presentation</vt:lpstr>
      <vt:lpstr>PowerPoint Presentation</vt:lpstr>
      <vt:lpstr>PowerPoint Presentation</vt:lpstr>
      <vt:lpstr>Group project grading (see rubrics online)</vt:lpstr>
      <vt:lpstr>Individual process grade</vt:lpstr>
      <vt:lpstr>Use of Generative AI</vt:lpstr>
      <vt:lpstr>Assignment 1 GenAI reflection</vt:lpstr>
      <vt:lpstr>Group contract</vt:lpstr>
      <vt:lpstr>Final 20 minutes: draft group contract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Garcia Bernardo, J. (Javier)</cp:lastModifiedBy>
  <cp:revision>3</cp:revision>
  <dcterms:created xsi:type="dcterms:W3CDTF">2026-09-08T17:38:47Z</dcterms:created>
  <dcterms:modified xsi:type="dcterms:W3CDTF">2026-09-08T19:15:40Z</dcterms:modified>
</cp:coreProperties>
</file>